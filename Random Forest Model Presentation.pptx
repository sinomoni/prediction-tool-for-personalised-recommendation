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60" r:id="rId7"/>
    <p:sldId id="258" r:id="rId8"/>
    <p:sldId id="261" r:id="rId9"/>
    <p:sldId id="286" r:id="rId10"/>
    <p:sldId id="287" r:id="rId11"/>
    <p:sldId id="288" r:id="rId12"/>
    <p:sldId id="289" r:id="rId13"/>
    <p:sldId id="269"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8" d="100"/>
          <a:sy n="78" d="100"/>
        </p:scale>
        <p:origin x="77" y="139"/>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5/2/2024</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5/2/2024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762247" y="1838225"/>
            <a:ext cx="10011831" cy="1432309"/>
          </a:xfrm>
        </p:spPr>
        <p:txBody>
          <a:bodyPr/>
          <a:lstStyle/>
          <a:p>
            <a:r>
              <a:rPr lang="en-US" sz="4400" dirty="0"/>
              <a:t>Predictive Tool for Improving Learner Outcomes</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1762247" y="3873850"/>
            <a:ext cx="7077456" cy="2074463"/>
          </a:xfrm>
        </p:spPr>
        <p:txBody>
          <a:bodyPr>
            <a:normAutofit/>
          </a:bodyPr>
          <a:lstStyle/>
          <a:p>
            <a:pPr marL="0" indent="0">
              <a:buNone/>
            </a:pPr>
            <a:r>
              <a:rPr lang="en-US" b="1" u="sng" dirty="0">
                <a:solidFill>
                  <a:srgbClr val="FFC000"/>
                </a:solidFill>
              </a:rPr>
              <a:t>GROUP 4 Members</a:t>
            </a:r>
            <a:r>
              <a:rPr lang="en-US" b="1" dirty="0">
                <a:solidFill>
                  <a:srgbClr val="FFC000"/>
                </a:solidFill>
              </a:rPr>
              <a:t>:</a:t>
            </a:r>
          </a:p>
          <a:p>
            <a:pPr marL="285750" indent="-285750">
              <a:buFont typeface="Arial" panose="020B0604020202020204" pitchFamily="34" charset="0"/>
              <a:buChar char="•"/>
            </a:pPr>
            <a:r>
              <a:rPr lang="en-US" sz="1600" dirty="0"/>
              <a:t>XANYWA S 202125763</a:t>
            </a:r>
          </a:p>
          <a:p>
            <a:pPr marL="285750" indent="-285750">
              <a:buFont typeface="Arial" panose="020B0604020202020204" pitchFamily="34" charset="0"/>
              <a:buChar char="•"/>
            </a:pPr>
            <a:r>
              <a:rPr lang="en-US" sz="1600" dirty="0"/>
              <a:t>MONI S 202016734</a:t>
            </a:r>
          </a:p>
          <a:p>
            <a:pPr marL="285750" indent="-285750">
              <a:buFont typeface="Arial" panose="020B0604020202020204" pitchFamily="34" charset="0"/>
              <a:buChar char="•"/>
            </a:pPr>
            <a:r>
              <a:rPr lang="en-US" sz="1600" dirty="0"/>
              <a:t>MJIKELISO S 202001421</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011214" y="1058159"/>
            <a:ext cx="7781544" cy="859055"/>
          </a:xfrm>
        </p:spPr>
        <p:txBody>
          <a:bodyPr/>
          <a:lstStyle/>
          <a:p>
            <a:r>
              <a:rPr lang="en-US" dirty="0"/>
              <a:t>Introduction</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3" name="Rectangle 2">
            <a:extLst>
              <a:ext uri="{FF2B5EF4-FFF2-40B4-BE49-F238E27FC236}">
                <a16:creationId xmlns:a16="http://schemas.microsoft.com/office/drawing/2014/main" id="{A177DE54-702F-40A3-B0F2-0CA78C4DA0B7}"/>
              </a:ext>
            </a:extLst>
          </p:cNvPr>
          <p:cNvSpPr/>
          <p:nvPr/>
        </p:nvSpPr>
        <p:spPr>
          <a:xfrm>
            <a:off x="372321" y="1885436"/>
            <a:ext cx="11148908" cy="40841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dirty="0"/>
          </a:p>
        </p:txBody>
      </p:sp>
      <p:sp>
        <p:nvSpPr>
          <p:cNvPr id="8" name="Text Placeholder 4">
            <a:extLst>
              <a:ext uri="{FF2B5EF4-FFF2-40B4-BE49-F238E27FC236}">
                <a16:creationId xmlns:a16="http://schemas.microsoft.com/office/drawing/2014/main" id="{A179C186-88A1-4D70-99D3-EE231D2802E9}"/>
              </a:ext>
            </a:extLst>
          </p:cNvPr>
          <p:cNvSpPr>
            <a:spLocks noGrp="1"/>
          </p:cNvSpPr>
          <p:nvPr>
            <p:ph type="body" idx="1"/>
          </p:nvPr>
        </p:nvSpPr>
        <p:spPr>
          <a:xfrm>
            <a:off x="533400" y="2205872"/>
            <a:ext cx="10826750" cy="3101419"/>
          </a:xfrm>
        </p:spPr>
        <p:txBody>
          <a:bodyPr/>
          <a:lstStyle/>
          <a:p>
            <a:r>
              <a:rPr lang="en-US" dirty="0">
                <a:solidFill>
                  <a:schemeClr val="bg1"/>
                </a:solidFill>
              </a:rPr>
              <a:t>The Eastern Cape Province faces significant challenges in education, resulting in suboptimal Matric results. Learners encounter obstacle such as lack of motivation, limited access to books, and a shortage of qualified teachers. Additionally, learning difficulties and poor study habits contribute to the overall struggle.</a:t>
            </a:r>
          </a:p>
          <a:p>
            <a:endParaRPr lang="en-US" dirty="0">
              <a:solidFill>
                <a:schemeClr val="bg1"/>
              </a:solidFill>
            </a:endParaRPr>
          </a:p>
          <a:p>
            <a:r>
              <a:rPr lang="en-US" dirty="0">
                <a:solidFill>
                  <a:schemeClr val="bg1"/>
                </a:solidFill>
              </a:rPr>
              <a:t>Our goal is to assist learners in overcoming these challenges by developing a predictive tool. This tool will provide personalized recommendations and support based on data analytics and machine learning algorithms. By analyzing learners’ past performance and behavior, we aim to identify areas of difficulty and offer targeted solutions.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725A9E3-4B93-4A16-82A7-99B0A377CEC7}"/>
              </a:ext>
            </a:extLst>
          </p:cNvPr>
          <p:cNvSpPr/>
          <p:nvPr/>
        </p:nvSpPr>
        <p:spPr>
          <a:xfrm>
            <a:off x="122548" y="1383029"/>
            <a:ext cx="11990895" cy="51403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dirty="0"/>
          </a:p>
        </p:txBody>
      </p:sp>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471529" y="533400"/>
            <a:ext cx="11187071" cy="859055"/>
          </a:xfrm>
        </p:spPr>
        <p:txBody>
          <a:bodyPr>
            <a:normAutofit/>
          </a:bodyPr>
          <a:lstStyle/>
          <a:p>
            <a:r>
              <a:rPr lang="en-US" dirty="0"/>
              <a:t>Data Collection and Preprocessing</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246449" y="1909788"/>
            <a:ext cx="5940646" cy="1974055"/>
          </a:xfrm>
        </p:spPr>
        <p:txBody>
          <a:bodyPr>
            <a:normAutofit fontScale="92500" lnSpcReduction="10000"/>
          </a:bodyPr>
          <a:lstStyle/>
          <a:p>
            <a:pPr marL="285750" indent="-285750">
              <a:buFont typeface="Wingdings" panose="05000000000000000000" pitchFamily="2" charset="2"/>
              <a:buChar char="q"/>
            </a:pPr>
            <a:r>
              <a:rPr lang="en-US" dirty="0">
                <a:solidFill>
                  <a:schemeClr val="bg1"/>
                </a:solidFill>
              </a:rPr>
              <a:t>Student performance records (exam scores attendance, teacher ratings).</a:t>
            </a:r>
          </a:p>
          <a:p>
            <a:pPr marL="285750" indent="-285750">
              <a:buFont typeface="Wingdings" panose="05000000000000000000" pitchFamily="2" charset="2"/>
              <a:buChar char="q"/>
            </a:pPr>
            <a:endParaRPr lang="en-US" dirty="0">
              <a:solidFill>
                <a:schemeClr val="bg1"/>
              </a:solidFill>
            </a:endParaRPr>
          </a:p>
          <a:p>
            <a:pPr marL="285750" indent="-285750">
              <a:buFont typeface="Wingdings" panose="05000000000000000000" pitchFamily="2" charset="2"/>
              <a:buChar char="q"/>
            </a:pPr>
            <a:r>
              <a:rPr lang="en-US" dirty="0">
                <a:solidFill>
                  <a:schemeClr val="bg1"/>
                </a:solidFill>
              </a:rPr>
              <a:t>Demographic information (age).</a:t>
            </a:r>
          </a:p>
          <a:p>
            <a:pPr marL="285750" indent="-285750">
              <a:buFont typeface="Wingdings" panose="05000000000000000000" pitchFamily="2" charset="2"/>
              <a:buChar char="q"/>
            </a:pPr>
            <a:endParaRPr lang="en-US" dirty="0">
              <a:solidFill>
                <a:schemeClr val="bg1"/>
              </a:solidFill>
            </a:endParaRPr>
          </a:p>
          <a:p>
            <a:pPr marL="285750" indent="-285750">
              <a:buFont typeface="Wingdings" panose="05000000000000000000" pitchFamily="2" charset="2"/>
              <a:buChar char="q"/>
            </a:pPr>
            <a:r>
              <a:rPr lang="en-US" dirty="0">
                <a:solidFill>
                  <a:schemeClr val="bg1"/>
                </a:solidFill>
              </a:rPr>
              <a:t>Subject-specific data (mathematics, physical sciences, life sciences, geography, English).</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7" name="Title 3">
            <a:extLst>
              <a:ext uri="{FF2B5EF4-FFF2-40B4-BE49-F238E27FC236}">
                <a16:creationId xmlns:a16="http://schemas.microsoft.com/office/drawing/2014/main" id="{4C3C75D8-DBD6-48F5-BBA1-A6728445047F}"/>
              </a:ext>
            </a:extLst>
          </p:cNvPr>
          <p:cNvSpPr txBox="1">
            <a:spLocks/>
          </p:cNvSpPr>
          <p:nvPr/>
        </p:nvSpPr>
        <p:spPr>
          <a:xfrm>
            <a:off x="471529" y="1392455"/>
            <a:ext cx="3127939" cy="51733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GB" sz="5400" b="1" kern="1200" dirty="0">
                <a:solidFill>
                  <a:schemeClr val="bg1"/>
                </a:solidFill>
                <a:latin typeface="+mj-lt"/>
                <a:ea typeface="+mj-ea"/>
                <a:cs typeface="+mj-cs"/>
              </a:defRPr>
            </a:lvl1pPr>
          </a:lstStyle>
          <a:p>
            <a:r>
              <a:rPr lang="en-US" sz="2800" dirty="0">
                <a:solidFill>
                  <a:srgbClr val="FFC000"/>
                </a:solidFill>
              </a:rPr>
              <a:t>Data Sources:</a:t>
            </a:r>
          </a:p>
        </p:txBody>
      </p:sp>
      <p:sp>
        <p:nvSpPr>
          <p:cNvPr id="9" name="Title 3">
            <a:extLst>
              <a:ext uri="{FF2B5EF4-FFF2-40B4-BE49-F238E27FC236}">
                <a16:creationId xmlns:a16="http://schemas.microsoft.com/office/drawing/2014/main" id="{A128F35A-D353-4FF7-B38E-40E4CEB98CEC}"/>
              </a:ext>
            </a:extLst>
          </p:cNvPr>
          <p:cNvSpPr txBox="1">
            <a:spLocks/>
          </p:cNvSpPr>
          <p:nvPr/>
        </p:nvSpPr>
        <p:spPr>
          <a:xfrm>
            <a:off x="7524349" y="1392455"/>
            <a:ext cx="3127939" cy="517333"/>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lang="en-GB" sz="5400" b="1" kern="1200" dirty="0">
                <a:solidFill>
                  <a:schemeClr val="bg1"/>
                </a:solidFill>
                <a:latin typeface="+mj-lt"/>
                <a:ea typeface="+mj-ea"/>
                <a:cs typeface="+mj-cs"/>
              </a:defRPr>
            </a:lvl1pPr>
          </a:lstStyle>
          <a:p>
            <a:r>
              <a:rPr lang="en-US" sz="2800" dirty="0">
                <a:solidFill>
                  <a:srgbClr val="FFC000"/>
                </a:solidFill>
              </a:rPr>
              <a:t>Preprocessing Steps</a:t>
            </a:r>
          </a:p>
        </p:txBody>
      </p:sp>
      <p:pic>
        <p:nvPicPr>
          <p:cNvPr id="11" name="Picture 10">
            <a:extLst>
              <a:ext uri="{FF2B5EF4-FFF2-40B4-BE49-F238E27FC236}">
                <a16:creationId xmlns:a16="http://schemas.microsoft.com/office/drawing/2014/main" id="{28021780-F601-4B28-944B-A130D27A6D5E}"/>
              </a:ext>
            </a:extLst>
          </p:cNvPr>
          <p:cNvPicPr>
            <a:picLocks noChangeAspect="1"/>
          </p:cNvPicPr>
          <p:nvPr/>
        </p:nvPicPr>
        <p:blipFill>
          <a:blip r:embed="rId2"/>
          <a:stretch>
            <a:fillRect/>
          </a:stretch>
        </p:blipFill>
        <p:spPr>
          <a:xfrm>
            <a:off x="7193407" y="4032302"/>
            <a:ext cx="4465193" cy="2135349"/>
          </a:xfrm>
          <a:prstGeom prst="rect">
            <a:avLst/>
          </a:prstGeom>
        </p:spPr>
      </p:pic>
      <p:pic>
        <p:nvPicPr>
          <p:cNvPr id="13" name="Picture 12">
            <a:extLst>
              <a:ext uri="{FF2B5EF4-FFF2-40B4-BE49-F238E27FC236}">
                <a16:creationId xmlns:a16="http://schemas.microsoft.com/office/drawing/2014/main" id="{34C9D729-5A5F-4E06-A9C8-3DBB33C6C37D}"/>
              </a:ext>
            </a:extLst>
          </p:cNvPr>
          <p:cNvPicPr>
            <a:picLocks noChangeAspect="1"/>
          </p:cNvPicPr>
          <p:nvPr/>
        </p:nvPicPr>
        <p:blipFill>
          <a:blip r:embed="rId3"/>
          <a:stretch>
            <a:fillRect/>
          </a:stretch>
        </p:blipFill>
        <p:spPr>
          <a:xfrm>
            <a:off x="7193407" y="2057212"/>
            <a:ext cx="4465194" cy="1771897"/>
          </a:xfrm>
          <a:prstGeom prst="rect">
            <a:avLst/>
          </a:prstGeom>
        </p:spPr>
      </p:pic>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646331"/>
          </a:xfrm>
        </p:spPr>
        <p:txBody>
          <a:bodyPr/>
          <a:lstStyle/>
          <a:p>
            <a:r>
              <a:rPr lang="en-US" sz="4000" dirty="0"/>
              <a:t>Machine Learning Model Selection: </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3" name="TextBox 2">
            <a:extLst>
              <a:ext uri="{FF2B5EF4-FFF2-40B4-BE49-F238E27FC236}">
                <a16:creationId xmlns:a16="http://schemas.microsoft.com/office/drawing/2014/main" id="{17A290C1-F8AB-4471-A04E-E041456F76E7}"/>
              </a:ext>
            </a:extLst>
          </p:cNvPr>
          <p:cNvSpPr txBox="1"/>
          <p:nvPr/>
        </p:nvSpPr>
        <p:spPr>
          <a:xfrm>
            <a:off x="533400" y="1480773"/>
            <a:ext cx="8506905" cy="3046988"/>
          </a:xfrm>
          <a:prstGeom prst="rect">
            <a:avLst/>
          </a:prstGeom>
          <a:noFill/>
        </p:spPr>
        <p:txBody>
          <a:bodyPr wrap="square" rtlCol="0">
            <a:spAutoFit/>
          </a:bodyPr>
          <a:lstStyle/>
          <a:p>
            <a:pPr algn="l"/>
            <a:r>
              <a:rPr lang="en-US" sz="2400" b="1" i="0" dirty="0">
                <a:solidFill>
                  <a:srgbClr val="FFC000"/>
                </a:solidFill>
                <a:effectLst/>
                <a:latin typeface="-apple-system"/>
              </a:rPr>
              <a:t>Algorithm:</a:t>
            </a:r>
            <a:r>
              <a:rPr lang="en-US" sz="2400" b="1" i="0" dirty="0">
                <a:solidFill>
                  <a:schemeClr val="bg1"/>
                </a:solidFill>
                <a:effectLst/>
                <a:latin typeface="-apple-system"/>
              </a:rPr>
              <a:t> Random Forest Model</a:t>
            </a:r>
          </a:p>
          <a:p>
            <a:pPr algn="l"/>
            <a:endParaRPr lang="en-US" sz="2400" b="1" i="0" dirty="0">
              <a:solidFill>
                <a:schemeClr val="bg1"/>
              </a:solidFill>
              <a:effectLst/>
              <a:latin typeface="-apple-system"/>
            </a:endParaRPr>
          </a:p>
          <a:p>
            <a:pPr algn="l"/>
            <a:endParaRPr lang="en-US" sz="2400" b="1" dirty="0">
              <a:solidFill>
                <a:schemeClr val="bg1"/>
              </a:solidFill>
              <a:latin typeface="-apple-system"/>
            </a:endParaRPr>
          </a:p>
          <a:p>
            <a:pPr algn="l"/>
            <a:r>
              <a:rPr lang="en-US" sz="2400" b="1" i="0" dirty="0">
                <a:solidFill>
                  <a:srgbClr val="FFC000"/>
                </a:solidFill>
                <a:effectLst/>
                <a:latin typeface="-apple-system"/>
              </a:rPr>
              <a:t>Why Random Forest?:</a:t>
            </a:r>
          </a:p>
          <a:p>
            <a:pPr marL="342900" indent="-342900" algn="l">
              <a:buFont typeface="Arial" panose="020B0604020202020204" pitchFamily="34" charset="0"/>
              <a:buChar char="•"/>
            </a:pPr>
            <a:r>
              <a:rPr lang="en-US" sz="2400" i="0" dirty="0">
                <a:solidFill>
                  <a:schemeClr val="bg1"/>
                </a:solidFill>
                <a:effectLst/>
                <a:latin typeface="-apple-system"/>
              </a:rPr>
              <a:t>High Accuracy</a:t>
            </a:r>
          </a:p>
          <a:p>
            <a:pPr marL="342900" indent="-342900" algn="l">
              <a:buFont typeface="Arial" panose="020B0604020202020204" pitchFamily="34" charset="0"/>
              <a:buChar char="•"/>
            </a:pPr>
            <a:r>
              <a:rPr lang="en-US" sz="2400" dirty="0">
                <a:solidFill>
                  <a:schemeClr val="bg1"/>
                </a:solidFill>
              </a:rPr>
              <a:t>Robust to outliers.</a:t>
            </a:r>
          </a:p>
          <a:p>
            <a:pPr marL="342900" indent="-342900" algn="l">
              <a:buFont typeface="Arial" panose="020B0604020202020204" pitchFamily="34" charset="0"/>
              <a:buChar char="•"/>
            </a:pPr>
            <a:r>
              <a:rPr lang="en-US" sz="2400" dirty="0">
                <a:solidFill>
                  <a:schemeClr val="bg1"/>
                </a:solidFill>
              </a:rPr>
              <a:t>Ensemble of decision trees.</a:t>
            </a:r>
          </a:p>
          <a:p>
            <a:pPr marL="342900" indent="-342900" algn="l">
              <a:buFont typeface="Arial" panose="020B0604020202020204" pitchFamily="34" charset="0"/>
              <a:buChar char="•"/>
            </a:pPr>
            <a:r>
              <a:rPr lang="en-US" sz="2400" dirty="0">
                <a:solidFill>
                  <a:schemeClr val="bg1"/>
                </a:solidFill>
              </a:rPr>
              <a:t>Handling Missing Values.</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533400" y="567179"/>
            <a:ext cx="11214100" cy="535531"/>
          </a:xfrm>
        </p:spPr>
        <p:txBody>
          <a:bodyPr/>
          <a:lstStyle/>
          <a:p>
            <a:r>
              <a:rPr lang="en-US" dirty="0"/>
              <a:t>Model Training and Evaluation</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9" name="Text Placeholder 8">
            <a:extLst>
              <a:ext uri="{FF2B5EF4-FFF2-40B4-BE49-F238E27FC236}">
                <a16:creationId xmlns:a16="http://schemas.microsoft.com/office/drawing/2014/main" id="{9CA810E3-49FA-49B7-A6B9-87DBE8747674}"/>
              </a:ext>
            </a:extLst>
          </p:cNvPr>
          <p:cNvSpPr>
            <a:spLocks noGrp="1"/>
          </p:cNvSpPr>
          <p:nvPr>
            <p:ph type="body" idx="1"/>
          </p:nvPr>
        </p:nvSpPr>
        <p:spPr/>
        <p:txBody>
          <a:bodyPr/>
          <a:lstStyle/>
          <a:p>
            <a:r>
              <a:rPr lang="en-US" dirty="0">
                <a:solidFill>
                  <a:srgbClr val="FFC000"/>
                </a:solidFill>
              </a:rPr>
              <a:t>Training Data:</a:t>
            </a:r>
          </a:p>
        </p:txBody>
      </p:sp>
      <p:sp>
        <p:nvSpPr>
          <p:cNvPr id="11" name="Text Placeholder 10">
            <a:extLst>
              <a:ext uri="{FF2B5EF4-FFF2-40B4-BE49-F238E27FC236}">
                <a16:creationId xmlns:a16="http://schemas.microsoft.com/office/drawing/2014/main" id="{5AF8A98E-BD2B-4215-9611-272D496BDA31}"/>
              </a:ext>
            </a:extLst>
          </p:cNvPr>
          <p:cNvSpPr>
            <a:spLocks noGrp="1"/>
          </p:cNvSpPr>
          <p:nvPr>
            <p:ph type="body" sz="quarter" idx="3"/>
          </p:nvPr>
        </p:nvSpPr>
        <p:spPr/>
        <p:txBody>
          <a:bodyPr/>
          <a:lstStyle/>
          <a:p>
            <a:r>
              <a:rPr lang="en-US" dirty="0">
                <a:solidFill>
                  <a:srgbClr val="FFC000"/>
                </a:solidFill>
              </a:rPr>
              <a:t>Evaluation Metrics</a:t>
            </a:r>
          </a:p>
        </p:txBody>
      </p:sp>
      <p:pic>
        <p:nvPicPr>
          <p:cNvPr id="19" name="Content Placeholder 18">
            <a:extLst>
              <a:ext uri="{FF2B5EF4-FFF2-40B4-BE49-F238E27FC236}">
                <a16:creationId xmlns:a16="http://schemas.microsoft.com/office/drawing/2014/main" id="{530B77A9-7799-4406-A527-0E28890A714C}"/>
              </a:ext>
            </a:extLst>
          </p:cNvPr>
          <p:cNvPicPr>
            <a:picLocks noGrp="1" noChangeAspect="1"/>
          </p:cNvPicPr>
          <p:nvPr>
            <p:ph sz="quarter" idx="4"/>
          </p:nvPr>
        </p:nvPicPr>
        <p:blipFill>
          <a:blip r:embed="rId2"/>
          <a:stretch>
            <a:fillRect/>
          </a:stretch>
        </p:blipFill>
        <p:spPr>
          <a:xfrm>
            <a:off x="6475413" y="2131648"/>
            <a:ext cx="5183187" cy="3154490"/>
          </a:xfrm>
        </p:spPr>
      </p:pic>
      <p:pic>
        <p:nvPicPr>
          <p:cNvPr id="17" name="Content Placeholder 16">
            <a:extLst>
              <a:ext uri="{FF2B5EF4-FFF2-40B4-BE49-F238E27FC236}">
                <a16:creationId xmlns:a16="http://schemas.microsoft.com/office/drawing/2014/main" id="{E593A744-9937-4B61-85DC-3D1418B0224C}"/>
              </a:ext>
            </a:extLst>
          </p:cNvPr>
          <p:cNvPicPr>
            <a:picLocks noGrp="1" noChangeAspect="1"/>
          </p:cNvPicPr>
          <p:nvPr>
            <p:ph sz="half" idx="2"/>
          </p:nvPr>
        </p:nvPicPr>
        <p:blipFill>
          <a:blip r:embed="rId3"/>
          <a:stretch>
            <a:fillRect/>
          </a:stretch>
        </p:blipFill>
        <p:spPr>
          <a:xfrm>
            <a:off x="570649" y="2131647"/>
            <a:ext cx="5525351" cy="3154490"/>
          </a:xfrm>
        </p:spPr>
      </p:pic>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544267" y="533400"/>
            <a:ext cx="11214100" cy="701731"/>
          </a:xfrm>
        </p:spPr>
        <p:txBody>
          <a:bodyPr/>
          <a:lstStyle/>
          <a:p>
            <a:r>
              <a:rPr lang="en-US" sz="4400" dirty="0"/>
              <a:t>Results and Insights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10" name="Content Placeholder 9">
            <a:extLst>
              <a:ext uri="{FF2B5EF4-FFF2-40B4-BE49-F238E27FC236}">
                <a16:creationId xmlns:a16="http://schemas.microsoft.com/office/drawing/2014/main" id="{DDE097E8-5E23-46A4-8B0D-FA22D6358BF8}"/>
              </a:ext>
            </a:extLst>
          </p:cNvPr>
          <p:cNvPicPr>
            <a:picLocks noGrp="1" noChangeAspect="1"/>
          </p:cNvPicPr>
          <p:nvPr>
            <p:ph idx="1"/>
          </p:nvPr>
        </p:nvPicPr>
        <p:blipFill>
          <a:blip r:embed="rId2"/>
          <a:stretch>
            <a:fillRect/>
          </a:stretch>
        </p:blipFill>
        <p:spPr>
          <a:xfrm>
            <a:off x="5175468" y="1396295"/>
            <a:ext cx="7016532" cy="4351338"/>
          </a:xfrm>
        </p:spPr>
      </p:pic>
      <p:sp>
        <p:nvSpPr>
          <p:cNvPr id="12" name="TextBox 11">
            <a:extLst>
              <a:ext uri="{FF2B5EF4-FFF2-40B4-BE49-F238E27FC236}">
                <a16:creationId xmlns:a16="http://schemas.microsoft.com/office/drawing/2014/main" id="{8C0F0F5C-1CCB-4150-9BC3-1DAD968C9C45}"/>
              </a:ext>
            </a:extLst>
          </p:cNvPr>
          <p:cNvSpPr txBox="1"/>
          <p:nvPr/>
        </p:nvSpPr>
        <p:spPr>
          <a:xfrm>
            <a:off x="533400" y="1396295"/>
            <a:ext cx="4491087" cy="1754326"/>
          </a:xfrm>
          <a:prstGeom prst="rect">
            <a:avLst/>
          </a:prstGeom>
          <a:noFill/>
        </p:spPr>
        <p:txBody>
          <a:bodyPr wrap="square" rtlCol="0">
            <a:spAutoFit/>
          </a:bodyPr>
          <a:lstStyle/>
          <a:p>
            <a:r>
              <a:rPr lang="en-US" dirty="0">
                <a:solidFill>
                  <a:schemeClr val="bg1"/>
                </a:solidFill>
              </a:rPr>
              <a:t>The Relative Importance of Features graph provides valuable insights into our machine learning model’s behavior. Each vertical bar represents a feature, and its height indicates the feature’s influence on predicting student outcomes (pass or fail). </a:t>
            </a:r>
          </a:p>
        </p:txBody>
      </p:sp>
    </p:spTree>
    <p:extLst>
      <p:ext uri="{BB962C8B-B14F-4D97-AF65-F5344CB8AC3E}">
        <p14:creationId xmlns:p14="http://schemas.microsoft.com/office/powerpoint/2010/main" val="972817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544267" y="533400"/>
            <a:ext cx="11214100" cy="701731"/>
          </a:xfrm>
        </p:spPr>
        <p:txBody>
          <a:bodyPr/>
          <a:lstStyle/>
          <a:p>
            <a:r>
              <a:rPr lang="en-US" sz="4400" dirty="0"/>
              <a:t>Results and Insights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12" name="TextBox 11">
            <a:extLst>
              <a:ext uri="{FF2B5EF4-FFF2-40B4-BE49-F238E27FC236}">
                <a16:creationId xmlns:a16="http://schemas.microsoft.com/office/drawing/2014/main" id="{8C0F0F5C-1CCB-4150-9BC3-1DAD968C9C45}"/>
              </a:ext>
            </a:extLst>
          </p:cNvPr>
          <p:cNvSpPr txBox="1"/>
          <p:nvPr/>
        </p:nvSpPr>
        <p:spPr>
          <a:xfrm>
            <a:off x="533400" y="1396295"/>
            <a:ext cx="4491087" cy="1323439"/>
          </a:xfrm>
          <a:prstGeom prst="rect">
            <a:avLst/>
          </a:prstGeom>
          <a:noFill/>
        </p:spPr>
        <p:txBody>
          <a:bodyPr wrap="square" rtlCol="0">
            <a:spAutoFit/>
          </a:bodyPr>
          <a:lstStyle/>
          <a:p>
            <a:r>
              <a:rPr lang="en-US" sz="2000" dirty="0">
                <a:solidFill>
                  <a:srgbClr val="ECECEC"/>
                </a:solidFill>
                <a:latin typeface="Söhne"/>
              </a:rPr>
              <a:t>T</a:t>
            </a:r>
            <a:r>
              <a:rPr lang="en-US" sz="2000" b="0" i="0" dirty="0">
                <a:solidFill>
                  <a:srgbClr val="ECECEC"/>
                </a:solidFill>
                <a:effectLst/>
                <a:latin typeface="Söhne"/>
              </a:rPr>
              <a:t>he graph offers a clear representation of the distribution of pass and fail outcomes, facilitating interpretation and decision-making based on the data.</a:t>
            </a:r>
            <a:endParaRPr lang="en-US" sz="2000" dirty="0">
              <a:solidFill>
                <a:schemeClr val="bg1"/>
              </a:solidFill>
            </a:endParaRPr>
          </a:p>
        </p:txBody>
      </p:sp>
      <p:pic>
        <p:nvPicPr>
          <p:cNvPr id="5" name="Picture 4">
            <a:extLst>
              <a:ext uri="{FF2B5EF4-FFF2-40B4-BE49-F238E27FC236}">
                <a16:creationId xmlns:a16="http://schemas.microsoft.com/office/drawing/2014/main" id="{683AB04F-C3DB-48DC-B31C-1E4FFAFB34A8}"/>
              </a:ext>
            </a:extLst>
          </p:cNvPr>
          <p:cNvPicPr>
            <a:picLocks noChangeAspect="1"/>
          </p:cNvPicPr>
          <p:nvPr/>
        </p:nvPicPr>
        <p:blipFill>
          <a:blip r:embed="rId2"/>
          <a:stretch>
            <a:fillRect/>
          </a:stretch>
        </p:blipFill>
        <p:spPr>
          <a:xfrm>
            <a:off x="5194168" y="1396295"/>
            <a:ext cx="6997831" cy="4918780"/>
          </a:xfrm>
          <a:prstGeom prst="rect">
            <a:avLst/>
          </a:prstGeom>
        </p:spPr>
      </p:pic>
    </p:spTree>
    <p:extLst>
      <p:ext uri="{BB962C8B-B14F-4D97-AF65-F5344CB8AC3E}">
        <p14:creationId xmlns:p14="http://schemas.microsoft.com/office/powerpoint/2010/main" val="8347553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533400" y="281402"/>
            <a:ext cx="11214100" cy="535531"/>
          </a:xfrm>
        </p:spPr>
        <p:txBody>
          <a:bodyPr/>
          <a:lstStyle/>
          <a:p>
            <a:r>
              <a:rPr lang="en-US" sz="4400" dirty="0"/>
              <a:t>Results and Insights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3" name="TextBox 2">
            <a:extLst>
              <a:ext uri="{FF2B5EF4-FFF2-40B4-BE49-F238E27FC236}">
                <a16:creationId xmlns:a16="http://schemas.microsoft.com/office/drawing/2014/main" id="{D49E5EDA-BF71-4DA5-93CD-80B53664F319}"/>
              </a:ext>
            </a:extLst>
          </p:cNvPr>
          <p:cNvSpPr txBox="1"/>
          <p:nvPr/>
        </p:nvSpPr>
        <p:spPr>
          <a:xfrm>
            <a:off x="533400" y="926860"/>
            <a:ext cx="5473831" cy="369332"/>
          </a:xfrm>
          <a:prstGeom prst="rect">
            <a:avLst/>
          </a:prstGeom>
          <a:noFill/>
        </p:spPr>
        <p:txBody>
          <a:bodyPr wrap="square" rtlCol="0">
            <a:spAutoFit/>
          </a:bodyPr>
          <a:lstStyle/>
          <a:p>
            <a:r>
              <a:rPr lang="en-US" b="1" dirty="0">
                <a:solidFill>
                  <a:schemeClr val="bg1"/>
                </a:solidFill>
              </a:rPr>
              <a:t>Marks Distribution Graphs:</a:t>
            </a:r>
          </a:p>
        </p:txBody>
      </p:sp>
      <p:sp>
        <p:nvSpPr>
          <p:cNvPr id="6" name="Rectangle 5">
            <a:extLst>
              <a:ext uri="{FF2B5EF4-FFF2-40B4-BE49-F238E27FC236}">
                <a16:creationId xmlns:a16="http://schemas.microsoft.com/office/drawing/2014/main" id="{F156332B-77A0-47EE-85FE-CEDE189C5095}"/>
              </a:ext>
            </a:extLst>
          </p:cNvPr>
          <p:cNvSpPr/>
          <p:nvPr/>
        </p:nvSpPr>
        <p:spPr>
          <a:xfrm>
            <a:off x="135118" y="1368573"/>
            <a:ext cx="11921764" cy="53116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0C3987B-2277-4089-801C-6B27327082AA}"/>
              </a:ext>
            </a:extLst>
          </p:cNvPr>
          <p:cNvPicPr>
            <a:picLocks noChangeAspect="1"/>
          </p:cNvPicPr>
          <p:nvPr/>
        </p:nvPicPr>
        <p:blipFill>
          <a:blip r:embed="rId2"/>
          <a:stretch>
            <a:fillRect/>
          </a:stretch>
        </p:blipFill>
        <p:spPr>
          <a:xfrm>
            <a:off x="135118" y="1368574"/>
            <a:ext cx="5960882" cy="2835782"/>
          </a:xfrm>
          <a:prstGeom prst="rect">
            <a:avLst/>
          </a:prstGeom>
        </p:spPr>
      </p:pic>
      <p:pic>
        <p:nvPicPr>
          <p:cNvPr id="10" name="Picture 9">
            <a:extLst>
              <a:ext uri="{FF2B5EF4-FFF2-40B4-BE49-F238E27FC236}">
                <a16:creationId xmlns:a16="http://schemas.microsoft.com/office/drawing/2014/main" id="{57FE0317-066F-4ED7-AC27-FB94779C0308}"/>
              </a:ext>
            </a:extLst>
          </p:cNvPr>
          <p:cNvPicPr>
            <a:picLocks noChangeAspect="1"/>
          </p:cNvPicPr>
          <p:nvPr/>
        </p:nvPicPr>
        <p:blipFill>
          <a:blip r:embed="rId3"/>
          <a:stretch>
            <a:fillRect/>
          </a:stretch>
        </p:blipFill>
        <p:spPr>
          <a:xfrm>
            <a:off x="135118" y="4204356"/>
            <a:ext cx="5960882" cy="2475844"/>
          </a:xfrm>
          <a:prstGeom prst="rect">
            <a:avLst/>
          </a:prstGeom>
        </p:spPr>
      </p:pic>
      <p:pic>
        <p:nvPicPr>
          <p:cNvPr id="13" name="Picture 12">
            <a:extLst>
              <a:ext uri="{FF2B5EF4-FFF2-40B4-BE49-F238E27FC236}">
                <a16:creationId xmlns:a16="http://schemas.microsoft.com/office/drawing/2014/main" id="{F71D4EA0-3841-4110-B2DD-C7A875744F3A}"/>
              </a:ext>
            </a:extLst>
          </p:cNvPr>
          <p:cNvPicPr>
            <a:picLocks noChangeAspect="1"/>
          </p:cNvPicPr>
          <p:nvPr/>
        </p:nvPicPr>
        <p:blipFill>
          <a:blip r:embed="rId4"/>
          <a:stretch>
            <a:fillRect/>
          </a:stretch>
        </p:blipFill>
        <p:spPr>
          <a:xfrm>
            <a:off x="6096000" y="1363857"/>
            <a:ext cx="5960882" cy="2835782"/>
          </a:xfrm>
          <a:prstGeom prst="rect">
            <a:avLst/>
          </a:prstGeom>
        </p:spPr>
      </p:pic>
      <p:pic>
        <p:nvPicPr>
          <p:cNvPr id="15" name="Picture 14">
            <a:extLst>
              <a:ext uri="{FF2B5EF4-FFF2-40B4-BE49-F238E27FC236}">
                <a16:creationId xmlns:a16="http://schemas.microsoft.com/office/drawing/2014/main" id="{D5EC8890-D6AF-4835-82E1-BF9AB027ECB2}"/>
              </a:ext>
            </a:extLst>
          </p:cNvPr>
          <p:cNvPicPr>
            <a:picLocks noChangeAspect="1"/>
          </p:cNvPicPr>
          <p:nvPr/>
        </p:nvPicPr>
        <p:blipFill>
          <a:blip r:embed="rId5"/>
          <a:stretch>
            <a:fillRect/>
          </a:stretch>
        </p:blipFill>
        <p:spPr>
          <a:xfrm>
            <a:off x="6096000" y="4204356"/>
            <a:ext cx="5960882" cy="2475844"/>
          </a:xfrm>
          <a:prstGeom prst="rect">
            <a:avLst/>
          </a:prstGeom>
        </p:spPr>
      </p:pic>
    </p:spTree>
    <p:extLst>
      <p:ext uri="{BB962C8B-B14F-4D97-AF65-F5344CB8AC3E}">
        <p14:creationId xmlns:p14="http://schemas.microsoft.com/office/powerpoint/2010/main" val="1934230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sz="4400" dirty="0"/>
              <a:t>Results and Insights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5" name="Text Placeholder 4">
            <a:extLst>
              <a:ext uri="{FF2B5EF4-FFF2-40B4-BE49-F238E27FC236}">
                <a16:creationId xmlns:a16="http://schemas.microsoft.com/office/drawing/2014/main" id="{42BC34D0-AE0E-4B42-930F-709E5AAFAFBA}"/>
              </a:ext>
            </a:extLst>
          </p:cNvPr>
          <p:cNvSpPr>
            <a:spLocks noGrp="1"/>
          </p:cNvSpPr>
          <p:nvPr>
            <p:ph type="body" idx="1"/>
          </p:nvPr>
        </p:nvSpPr>
        <p:spPr/>
        <p:txBody>
          <a:bodyPr/>
          <a:lstStyle/>
          <a:p>
            <a:r>
              <a:rPr lang="en-US" dirty="0">
                <a:solidFill>
                  <a:srgbClr val="FFC000"/>
                </a:solidFill>
              </a:rPr>
              <a:t>Subject-wise Marks Distribution</a:t>
            </a:r>
          </a:p>
        </p:txBody>
      </p:sp>
      <p:sp>
        <p:nvSpPr>
          <p:cNvPr id="9" name="Text Placeholder 8">
            <a:extLst>
              <a:ext uri="{FF2B5EF4-FFF2-40B4-BE49-F238E27FC236}">
                <a16:creationId xmlns:a16="http://schemas.microsoft.com/office/drawing/2014/main" id="{B4A363D7-8AB2-4A47-ADF1-55766B518B87}"/>
              </a:ext>
            </a:extLst>
          </p:cNvPr>
          <p:cNvSpPr>
            <a:spLocks noGrp="1"/>
          </p:cNvSpPr>
          <p:nvPr>
            <p:ph type="body" sz="quarter" idx="3"/>
          </p:nvPr>
        </p:nvSpPr>
        <p:spPr>
          <a:xfrm>
            <a:off x="6500812" y="1681163"/>
            <a:ext cx="5157788" cy="535531"/>
          </a:xfrm>
        </p:spPr>
        <p:txBody>
          <a:bodyPr>
            <a:normAutofit fontScale="92500"/>
          </a:bodyPr>
          <a:lstStyle/>
          <a:p>
            <a:r>
              <a:rPr lang="en-US" dirty="0">
                <a:solidFill>
                  <a:srgbClr val="FFC000"/>
                </a:solidFill>
              </a:rPr>
              <a:t>Mathematics vs. Physical Sciences Marks</a:t>
            </a:r>
          </a:p>
        </p:txBody>
      </p:sp>
      <p:pic>
        <p:nvPicPr>
          <p:cNvPr id="14" name="Content Placeholder 13">
            <a:extLst>
              <a:ext uri="{FF2B5EF4-FFF2-40B4-BE49-F238E27FC236}">
                <a16:creationId xmlns:a16="http://schemas.microsoft.com/office/drawing/2014/main" id="{8628B48B-A6CF-4078-A29B-0393CDA9D34A}"/>
              </a:ext>
            </a:extLst>
          </p:cNvPr>
          <p:cNvPicPr>
            <a:picLocks noGrp="1" noChangeAspect="1"/>
          </p:cNvPicPr>
          <p:nvPr>
            <p:ph sz="half" idx="2"/>
          </p:nvPr>
        </p:nvPicPr>
        <p:blipFill>
          <a:blip r:embed="rId2"/>
          <a:stretch>
            <a:fillRect/>
          </a:stretch>
        </p:blipFill>
        <p:spPr>
          <a:xfrm>
            <a:off x="533400" y="2084439"/>
            <a:ext cx="5316794" cy="4105224"/>
          </a:xfrm>
        </p:spPr>
      </p:pic>
      <p:pic>
        <p:nvPicPr>
          <p:cNvPr id="17" name="Content Placeholder 16">
            <a:extLst>
              <a:ext uri="{FF2B5EF4-FFF2-40B4-BE49-F238E27FC236}">
                <a16:creationId xmlns:a16="http://schemas.microsoft.com/office/drawing/2014/main" id="{F1323F6C-2300-4314-AFD4-4EDB569EB448}"/>
              </a:ext>
            </a:extLst>
          </p:cNvPr>
          <p:cNvPicPr>
            <a:picLocks noGrp="1" noChangeAspect="1"/>
          </p:cNvPicPr>
          <p:nvPr>
            <p:ph sz="quarter" idx="4"/>
          </p:nvPr>
        </p:nvPicPr>
        <p:blipFill>
          <a:blip r:embed="rId3"/>
          <a:stretch>
            <a:fillRect/>
          </a:stretch>
        </p:blipFill>
        <p:spPr>
          <a:xfrm>
            <a:off x="6341808" y="2084439"/>
            <a:ext cx="5316791" cy="4105224"/>
          </a:xfrm>
        </p:spPr>
      </p:pic>
    </p:spTree>
    <p:extLst>
      <p:ext uri="{BB962C8B-B14F-4D97-AF65-F5344CB8AC3E}">
        <p14:creationId xmlns:p14="http://schemas.microsoft.com/office/powerpoint/2010/main" val="2308534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33400" y="205410"/>
            <a:ext cx="4945598" cy="1243584"/>
          </a:xfrm>
        </p:spPr>
        <p:txBody>
          <a:bodyPr/>
          <a:lstStyle/>
          <a:p>
            <a:r>
              <a:rPr lang="en-GB" dirty="0"/>
              <a:t>Conclusion:</a:t>
            </a:r>
          </a:p>
        </p:txBody>
      </p:sp>
      <p:sp>
        <p:nvSpPr>
          <p:cNvPr id="3" name="Rectangle 2">
            <a:extLst>
              <a:ext uri="{FF2B5EF4-FFF2-40B4-BE49-F238E27FC236}">
                <a16:creationId xmlns:a16="http://schemas.microsoft.com/office/drawing/2014/main" id="{164814D8-9418-4D73-BABD-C30604802D7C}"/>
              </a:ext>
            </a:extLst>
          </p:cNvPr>
          <p:cNvSpPr/>
          <p:nvPr/>
        </p:nvSpPr>
        <p:spPr>
          <a:xfrm>
            <a:off x="533400" y="1653460"/>
            <a:ext cx="11125200" cy="3644403"/>
          </a:xfrm>
          <a:prstGeom prst="rect">
            <a:avLst/>
          </a:prstGeom>
          <a:solidFill>
            <a:schemeClr val="accent5">
              <a:alpha val="68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A1F660B-7649-4331-9DA7-9167F76844BA}"/>
              </a:ext>
            </a:extLst>
          </p:cNvPr>
          <p:cNvSpPr txBox="1"/>
          <p:nvPr/>
        </p:nvSpPr>
        <p:spPr>
          <a:xfrm>
            <a:off x="533400" y="1653461"/>
            <a:ext cx="11125200" cy="1631216"/>
          </a:xfrm>
          <a:prstGeom prst="rect">
            <a:avLst/>
          </a:prstGeom>
          <a:noFill/>
        </p:spPr>
        <p:txBody>
          <a:bodyPr wrap="square" rtlCol="0">
            <a:spAutoFit/>
          </a:bodyPr>
          <a:lstStyle/>
          <a:p>
            <a:r>
              <a:rPr lang="en-US" sz="2000" dirty="0">
                <a:solidFill>
                  <a:schemeClr val="bg1"/>
                </a:solidFill>
              </a:rPr>
              <a:t>In conclusion, the machine learning model presented has demonstrated its effectiveness in predicting student results and providing personalized support. By leveraging the power of data analytics and AI, this solution holds great promise in transforming the educational landscape of the Eastern Cape Province and empowering learners to overcome their challenges and achieve academic success.</a:t>
            </a: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	Thank 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107</TotalTime>
  <Words>363</Words>
  <Application>Microsoft Office PowerPoint</Application>
  <PresentationFormat>Widescreen</PresentationFormat>
  <Paragraphs>49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-apple-system</vt:lpstr>
      <vt:lpstr>Arial</vt:lpstr>
      <vt:lpstr>Calibri</vt:lpstr>
      <vt:lpstr>Söhne</vt:lpstr>
      <vt:lpstr>Trade Gothic LT Pro</vt:lpstr>
      <vt:lpstr>Trebuchet MS</vt:lpstr>
      <vt:lpstr>Wingdings</vt:lpstr>
      <vt:lpstr>Office Theme</vt:lpstr>
      <vt:lpstr>Predictive Tool for Improving Learner Outcomes</vt:lpstr>
      <vt:lpstr>Introduction</vt:lpstr>
      <vt:lpstr>Data Collection and Preprocessing</vt:lpstr>
      <vt:lpstr>Machine Learning Model Selection: </vt:lpstr>
      <vt:lpstr>Model Training and Evaluation</vt:lpstr>
      <vt:lpstr>Results and Insights</vt:lpstr>
      <vt:lpstr>Results and Insights</vt:lpstr>
      <vt:lpstr>Results and Insights</vt:lpstr>
      <vt:lpstr>Results and Insights</vt:lpstr>
      <vt:lpstr>Conclusion: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Tool for Improving Learner Outcomes</dc:title>
  <dc:creator>XANYWA, SIMAMKELE</dc:creator>
  <cp:lastModifiedBy>XANYWA, SIMAMKELE</cp:lastModifiedBy>
  <cp:revision>11</cp:revision>
  <dcterms:created xsi:type="dcterms:W3CDTF">2024-05-02T12:42:31Z</dcterms:created>
  <dcterms:modified xsi:type="dcterms:W3CDTF">2024-05-02T14:29:43Z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